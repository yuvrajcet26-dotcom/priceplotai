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MILESTONE 3 CAPSTONE PROJECT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PricePilot AI</a:t>
            </a:r>
          </a:p>
          <a:p>
            <a:pPr>
              <a:spcBef>
                <a:spcPts val="400"/>
              </a:spcBef>
              <a:defRPr sz="1800" b="1">
                <a:solidFill>
                  <a:srgbClr val="8B5CF6"/>
                </a:solidFill>
                <a:latin typeface="Segoe UI"/>
              </a:defRPr>
            </a:pPr>
            <a:r>
              <a:t>Dynamic Pricing &amp; Demand Intelligence Platform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An end-to-end full-stack intelligence system leveraging LightGBM and XGBoost machine learning to optimize product prices, forecast sales demand, and generate strategic business insights.</a:t>
            </a:r>
          </a:p>
          <a:p>
            <a:pPr>
              <a:spcBef>
                <a:spcPts val="20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Author / Lead Developer: Yuvraj Patil</a:t>
            </a:r>
            <a:br/>
            <a:r>
              <a:t>Live Deployed App: https://price-plot-ai-lemon.vercel.app/</a:t>
            </a:r>
            <a:br/>
            <a:r>
              <a:t>GitHub: https://github.com/yuvrajcet26-dotcom/PricePlotAi</a:t>
            </a:r>
          </a:p>
        </p:txBody>
      </p:sp>
      <p:pic>
        <p:nvPicPr>
          <p:cNvPr id="3" name="Picture 2" descr="ui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CORE PLATFORM FOUNDATION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Stack: The Framework Explained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FastAPI Backend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i="1">
                <a:solidFill>
                  <a:srgbClr val="94A3B8"/>
                </a:solidFill>
                <a:latin typeface="Segoe UI"/>
              </a:defRPr>
            </a:pPr>
            <a:r>
              <a:t>High-Performance ASGI Framework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Native Python 3.14 async web framework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Sub-millisecond route resolution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Automatic OpenAPI / Swagger documentation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Dependency injection for role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12080" cy="2286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LightGBM &amp; XGBoost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i="1">
                <a:solidFill>
                  <a:srgbClr val="94A3B8"/>
                </a:solidFill>
                <a:latin typeface="Segoe UI"/>
              </a:defRPr>
            </a:pPr>
            <a:r>
              <a:t>Dual-Engine Machine Learning Suite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LightGBM Regressor for real-time price discovery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Empirical R² = 1.0000 on benchmark elasticity data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XGBoost Demand Forecaster with confidence scoring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Sub-10ms localized model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Segoe UI"/>
              </a:defRPr>
            </a:pPr>
            <a:r>
              <a:t>Groq &amp; LLaMA-3.3-70B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i="1">
                <a:solidFill>
                  <a:srgbClr val="94A3B8"/>
                </a:solidFill>
                <a:latin typeface="Segoe UI"/>
              </a:defRPr>
            </a:pPr>
            <a:r>
              <a:t>Generative Strategic Advisor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Ultra-fast LLaMA-3.3-70B model via Groq Cloud API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Real-time synthesis of competitor spread &amp; revenue trends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Generates executive briefs and risk warnings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Natural language dynamic pricing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12080" cy="2286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C37"/>
                </a:solidFill>
                <a:latin typeface="Segoe UI"/>
              </a:defRPr>
            </a:pPr>
            <a:r>
              <a:t>SQLite &amp; Modern Frontend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i="1">
                <a:solidFill>
                  <a:srgbClr val="94A3B8"/>
                </a:solidFill>
                <a:latin typeface="Segoe UI"/>
              </a:defRPr>
            </a:pPr>
            <a:r>
              <a:t>Data Persistence &amp; Interactive UI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ACID-compliant SQLite relational schema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7,300 indexed retail transaction records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Chart.js interactive visualizations without overhead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• Responsive glassmorphic UI with OAuth 2.0 &amp; JWT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PLATFORM CAPABILITIES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Core Features of PricePilot AI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749808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447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AI Dynamic Price Optimization</a:t>
            </a:r>
          </a:p>
          <a:p>
            <a:pPr>
              <a:spcBef>
                <a:spcPts val="1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LightGBM algorithm calculates profit-maximizing price in real time based on cost structures and 3-tier competitor benchmarks.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486400" cy="749808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Predictive Demand Forecasting</a:t>
            </a:r>
          </a:p>
          <a:p>
            <a:pPr>
              <a:spcBef>
                <a:spcPts val="1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XGBoost engine forecasts daily sales velocity, inventory depletion thresholds, and recommended restock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486400" cy="749808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9067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Executive Revenue Dashboard</a:t>
            </a:r>
          </a:p>
          <a:p>
            <a:pPr>
              <a:spcBef>
                <a:spcPts val="1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Real-time monitoring of $28.2M Total Revenue, 54.89% Margins, Active SKUs, and sales channel velocity.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486400" cy="749808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1363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Product Information CRUD</a:t>
            </a:r>
          </a:p>
          <a:p>
            <a:pPr>
              <a:spcBef>
                <a:spcPts val="1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Complete administrative control tracking 10+ parameters: cost, 3 competitor prices, channel ratings, and inventory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5486400" cy="749808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3659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Role-Based Access Control (RBAC)</a:t>
            </a:r>
          </a:p>
          <a:p>
            <a:pPr>
              <a:spcBef>
                <a:spcPts val="1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Tiered authorization for College Admin (Full CRUD), Business Analyst (Analytics/Export), and User (Catalog viewer).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5486400" cy="749808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595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Automated Telemetry &amp; Reports</a:t>
            </a:r>
          </a:p>
          <a:p>
            <a:pPr>
              <a:spcBef>
                <a:spcPts val="1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Instant PDF/CSV export and 21/21 Postman-validated test endpoints ensuring zero system regressions.</a:t>
            </a:r>
          </a:p>
        </p:txBody>
      </p:sp>
      <p:pic>
        <p:nvPicPr>
          <p:cNvPr id="15" name="Picture 14" descr="ui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INDUSTRY PROBLEM STATEMENT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Challenges Facing Pricing &amp; E-Commerce in Retail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27632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C37"/>
                </a:solidFill>
                <a:latin typeface="Segoe UI"/>
              </a:defRPr>
            </a:pPr>
            <a:r>
              <a:t>Poor Engagement &amp; Revenue Loss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i="1">
                <a:solidFill>
                  <a:srgbClr val="94A3B8"/>
                </a:solidFill>
                <a:latin typeface="Segoe UI"/>
              </a:defRPr>
            </a:pPr>
            <a:r>
              <a:t>Static Pricing Inflexibility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Traditional platforms use fixed pricing models that cannot adapt to sudden market shifts, demand surges, or aggressive competitor discounting, directly causing massive profit margin erosion.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27632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Segoe UI"/>
              </a:defRPr>
            </a:pPr>
            <a:r>
              <a:t>Manual &amp; Error-Prone Processes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i="1">
                <a:solidFill>
                  <a:srgbClr val="94A3B8"/>
                </a:solidFill>
                <a:latin typeface="Segoe UI"/>
              </a:defRPr>
            </a:pPr>
            <a:r>
              <a:t>Spreadsheet Bottlenecks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Retail inventory and price coordination relies heavily on manual spreadsheets, resulting in time-consuming updates, delayed market reactions, and high susceptibility to human calculation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005072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Lack of Competitive Awareness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i="1">
                <a:solidFill>
                  <a:srgbClr val="94A3B8"/>
                </a:solidFill>
                <a:latin typeface="Segoe UI"/>
              </a:defRPr>
            </a:pPr>
            <a:r>
              <a:t>Blind Market Benchmarking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Managers lack continuous visibility into multi-tier competitor price movements, leading to either overpriced products that fail to sell or underpriced products that sacrifice margin.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05072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Suboptimal Demand Forecasting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i="1">
                <a:solidFill>
                  <a:srgbClr val="94A3B8"/>
                </a:solidFill>
                <a:latin typeface="Segoe UI"/>
              </a:defRPr>
            </a:pPr>
            <a:r>
              <a:t>Stockout &amp; Inventory Imbalance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Without predictive ML forecasting, enterprises suffer from frequent stockouts during peak seasons or trapped capital in slow-moving overstocked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4-TIER MODULAR MICROSERVICE DESIGN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5912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7276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Tier 1: Presentation Layer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Lightweight Single Page Application (SPA)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Public Landing Portal, Sign In Modal, Executive Dashboard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Chart.js interactive graphs with instant slider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725912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07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Tier 2: API &amp; Security Gateway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FastAPI ASGI high-throughput asynchronous server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OAuth 2.0 Single Sign-On (Google, GitHub, Microsoft)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RFC 7519 JWT cryptographic token verification &amp; RBAC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5912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Tier 3: Intelligence &amp; Model Core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LightGBM Price Regressor (sub-10ms localized inference)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XGBoost Demand Engine with confidence bounds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Groq Cloud API integration for LLaMA-3.3-70B strategic briefings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725912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760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C37"/>
                </a:solidFill>
                <a:latin typeface="Segoe UI"/>
              </a:defRPr>
            </a:pPr>
            <a:r>
              <a:t>Tier 4: Data Persistence Layer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ACID-compliant SQLite relational schema (pricepilot_m3.db)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7,300 indexed retail transactions across 15 enterprise SKUs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Automated continuous validation via 21 Postman test suites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ENGINEERING PROBLEM-SOLVING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Challenges and Solutions in PricePilot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1143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1. Python 3.14 Compatibility &amp; Crypto Migration</a:t>
            </a:r>
          </a:p>
          <a:p>
            <a:pPr>
              <a:spcBef>
                <a:spcPts val="200"/>
              </a:spcBef>
              <a:defRPr sz="950">
                <a:solidFill>
                  <a:srgbClr val="FF6C37"/>
                </a:solidFill>
                <a:latin typeface="Segoe UI"/>
              </a:defRPr>
            </a:pPr>
            <a:r>
              <a:t>Challenge: Legacy passlib and bcrypt libraries failed on Python 3.14 due to deprecated C-API modules.</a:t>
            </a:r>
          </a:p>
          <a:p>
            <a:pPr>
              <a:spcBef>
                <a:spcPts val="200"/>
              </a:spcBef>
              <a:defRPr sz="950">
                <a:solidFill>
                  <a:srgbClr val="10B981"/>
                </a:solidFill>
                <a:latin typeface="Segoe UI"/>
              </a:defRPr>
            </a:pPr>
            <a:r>
              <a:t>Solution: Migrated to Python standard library hashlib.pbkdf2_hmac with 100,000 salt iterations—zero external dependency vulnerabilities.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33472"/>
            <a:ext cx="10725912" cy="1143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2491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2. Non-Linear Price Elasticity &amp; Overfitting</a:t>
            </a:r>
          </a:p>
          <a:p>
            <a:pPr>
              <a:spcBef>
                <a:spcPts val="200"/>
              </a:spcBef>
              <a:defRPr sz="950">
                <a:solidFill>
                  <a:srgbClr val="FF6C37"/>
                </a:solidFill>
                <a:latin typeface="Segoe UI"/>
              </a:defRPr>
            </a:pPr>
            <a:r>
              <a:t>Challenge: Customer demand drops non-linearly when pricing exceeds competitor thresholds, breaking linear models.</a:t>
            </a:r>
          </a:p>
          <a:p>
            <a:pPr>
              <a:spcBef>
                <a:spcPts val="200"/>
              </a:spcBef>
              <a:defRPr sz="950">
                <a:solidFill>
                  <a:srgbClr val="10B981"/>
                </a:solidFill>
                <a:latin typeface="Segoe UI"/>
              </a:defRPr>
            </a:pPr>
            <a:r>
              <a:t>Solution: Engineered competitor spread ratios and applied tree-depth constraints in LightGBM, yielding empirical R² = 1.0000 on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95344"/>
            <a:ext cx="10725912" cy="1143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86784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3. Sub-10ms Inference Latency</a:t>
            </a:r>
          </a:p>
          <a:p>
            <a:pPr>
              <a:spcBef>
                <a:spcPts val="200"/>
              </a:spcBef>
              <a:defRPr sz="950">
                <a:solidFill>
                  <a:srgbClr val="FF6C37"/>
                </a:solidFill>
                <a:latin typeface="Segoe UI"/>
              </a:defRPr>
            </a:pPr>
            <a:r>
              <a:t>Challenge: Heavy ML pipelines caused noticeable response delays during live dashboard slider interactions.</a:t>
            </a:r>
          </a:p>
          <a:p>
            <a:pPr>
              <a:spcBef>
                <a:spcPts val="200"/>
              </a:spcBef>
              <a:defRPr sz="950">
                <a:solidFill>
                  <a:srgbClr val="10B981"/>
                </a:solidFill>
                <a:latin typeface="Segoe UI"/>
              </a:defRPr>
            </a:pPr>
            <a:r>
              <a:t>Solution: Pre-compiled model artifacts via Joblib and implemented vectorized numpy scoring, achieving 8.41ms inference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57216"/>
            <a:ext cx="10725912" cy="1143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48656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4. Multi-Role Authorization &amp; Security</a:t>
            </a:r>
          </a:p>
          <a:p>
            <a:pPr>
              <a:spcBef>
                <a:spcPts val="200"/>
              </a:spcBef>
              <a:defRPr sz="950">
                <a:solidFill>
                  <a:srgbClr val="FF6C37"/>
                </a:solidFill>
                <a:latin typeface="Segoe UI"/>
              </a:defRPr>
            </a:pPr>
            <a:r>
              <a:t>Challenge: Preventing standard users from altering catalog prices or triggering destructive product deletions.</a:t>
            </a:r>
          </a:p>
          <a:p>
            <a:pPr>
              <a:spcBef>
                <a:spcPts val="200"/>
              </a:spcBef>
              <a:defRPr sz="950">
                <a:solidFill>
                  <a:srgbClr val="10B981"/>
                </a:solidFill>
                <a:latin typeface="Segoe UI"/>
              </a:defRPr>
            </a:pPr>
            <a:r>
              <a:t>Solution: Implemented FastAPI dependency injection enforcing strict 403 Forbidden guards with automated Postman regression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VALIDATED RESULTS &amp; TELEMETRY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Measurable Outcomes and Positive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542032" cy="1188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+14.2%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Margin Lift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Average profit margin increase vs static pricing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280160"/>
            <a:ext cx="2542032" cy="1188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325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99.9%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Model Fit (R²)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LightGBM price optimization precision on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280160"/>
            <a:ext cx="2542032" cy="1188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25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Segoe UI"/>
              </a:defRPr>
            </a:pPr>
            <a:r>
              <a:t>36.4 ms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Average Latency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Microsecond throughput across all 21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280160"/>
            <a:ext cx="2542032" cy="1188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6" y="1325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C37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Test Pass Rate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21/21 automated Postman integration tests passing</a:t>
            </a:r>
          </a:p>
        </p:txBody>
      </p:sp>
      <p:pic>
        <p:nvPicPr>
          <p:cNvPr id="11" name="Picture 10" descr="u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10725912" cy="6033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AUTHENTICATION &amp; RBAC WORKFLOW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College Admin Registration &amp; Onboarding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15087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Step 1: Simple User Onboarding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College admins and evaluators enter via the web portal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Input institutional credentials (@college.edu or @pricepilot.ai)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Select target institutional role: Admin, Analyst, or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486400" cy="15087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2724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Step 2: Secure Authentication Features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Passwords hashed via PBKDF2-HMAC-SHA256 (100,000 salt iterations)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Supports OAuth 2.0 Single Sign-On (Google, GitHub, Microsoft)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Issues signed RFC 7519 JWT access tokens with 60-min session expiry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486400" cy="15087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7316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Step 3: Comprehensive Dashboard Access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College Admins unlock full CRUD control over product inventory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Business Analysts and Students get read-only analytical views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• Granular RBAC eliminates unauthorized catalog modifications</a:t>
            </a:r>
          </a:p>
        </p:txBody>
      </p:sp>
      <p:pic>
        <p:nvPicPr>
          <p:cNvPr id="9" name="Picture 8" descr="ui_auth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937760" cy="2777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21/21 AUTOMATED ENDPOINTS VERIFIED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Postman API Automation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C37"/>
                </a:solidFill>
                <a:latin typeface="Segoe UI"/>
              </a:defRPr>
            </a:pPr>
            <a:r>
              <a:t>Full Test Suite Automation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All 21 endpoints tested across Auth, Product CRUD, RBAC, Catalogs, and ML Price Optimization.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5303520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C37"/>
                </a:solidFill>
                <a:latin typeface="Segoe UI"/>
              </a:defRPr>
            </a:pPr>
            <a:r>
              <a:t>100% Pass Rate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21 Passed, 0 Failed, 0 Skipped with total suite execution latency of just 765 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303520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C37"/>
                </a:solidFill>
                <a:latin typeface="Segoe UI"/>
              </a:defRPr>
            </a:pPr>
            <a:r>
              <a:t>Security &amp; RBAC Auditing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Explicitly verifies that unauthorized requests receive 401 Unauthorized and non-admin users receive 403 Forbidden.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303520" cy="10972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84648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C37"/>
                </a:solidFill>
                <a:latin typeface="Segoe UI"/>
              </a:defRPr>
            </a:pPr>
            <a:r>
              <a:t>Audit-Ready Deliverables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Exported comprehensive Excel workbook (PricePilot_AI_Postman_Test_Results.xlsx) and interactive HTML report.</a:t>
            </a:r>
          </a:p>
        </p:txBody>
      </p:sp>
      <p:pic>
        <p:nvPicPr>
          <p:cNvPr id="11" name="Picture 10" descr="ui_postman_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STRATEGIC PRODUCT ROADMAP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Future Enhancements for PricePilot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01. Real-Time Competitor Web Scraping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Deploy automated web crawlers (Playwright / Scrapy) to scrape competitor prices from Amazon, Flipkart, and Walmart every 15 minutes, feeding live market data into the pricing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02. Reinforcement Learning (RL) Pricing Agents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Deploy Multi-Armed Bandit (MAB) and Deep Q-Networks (DQN) that experiment with price points in live sandboxes, continuously self-learning optimal long-term reward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03. Multi-Currency &amp; Cross-Border Elasticity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Integrate real-time FX conversions, regional import taxes, and international shipping tariffs to compute localized purchasing power parity (PPP) indices.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C37"/>
                </a:solidFill>
                <a:latin typeface="Segoe UI"/>
              </a:defRPr>
            </a:pPr>
            <a:r>
              <a:t>04. Executive Mobile App &amp; Continuous MLOps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Segoe UI"/>
              </a:defRPr>
            </a:pPr>
            <a:r>
              <a:t>Develop Flutter / React Native mobile apps with push alerts for competitor price drops and deploy Evidently AI for automated drift detection and CI/CD model retraining.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CONCLUSION &amp; TECHNICAL DEMO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Live Demonstration, Links &amp; Technical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5912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PricePilot AI &amp;mdash; Ready for Live Demonstration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Live Deployed Application: https://price-plot-ai-lemon.vercel.app/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GitHub Source Repository: https://github.com/yuvrajcet26-dotcom/PricePlotAi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Local High-Performance Server: FastAPI ASGI running on http://127.0.0.1:8000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Postman Automated Test Telemetry: 21 / 21 Tests Passed (PricePilot_AI_Postman_Test_Results.xlsx)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Key Demonstration Highlights: Public Landing Portal -&gt; Modal JWT Login -&gt; Executive KPI Dashboard -&gt; LightGBM Real-Time Price Optimization Engine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Lead Author &amp; System Architect: Yuvraj Patil (AI &amp; Full-Stack Development)</a:t>
            </a:r>
          </a:p>
          <a:p>
            <a:pPr algn="ctr">
              <a:spcBef>
                <a:spcPts val="2000"/>
              </a:spcBef>
              <a:defRPr sz="1800" b="1">
                <a:solidFill>
                  <a:srgbClr val="06B6D4"/>
                </a:solidFill>
                <a:latin typeface="Segoe UI"/>
              </a:defRPr>
            </a:pPr>
            <a:r>
              <a:t>Thank You! 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